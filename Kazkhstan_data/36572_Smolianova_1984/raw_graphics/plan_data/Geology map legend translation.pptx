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400" d="100"/>
          <a:sy n="400" d="100"/>
        </p:scale>
        <p:origin x="-13302" y="-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7DBC-F915-3A22-5D09-F3F3B0C42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78C07-A825-B095-F70D-436C52BC0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C1EF6-70CF-45B0-445B-62B70FF1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839E5-DB3E-DAE1-E74D-1FA4B797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370EE-D14C-E4C2-53FF-F20E95BA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945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2BD0-E159-98F5-72B9-572E4A10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61C03-D316-1D14-1C18-2BE6114F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6EE3E-FCF8-A37C-5A56-995AE07E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D39B3-CD60-FF31-AE4B-BAC6274A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C754F-A56A-9903-E122-E801691C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7521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6757-A016-65B8-5364-7787CB39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482B1-4883-07F4-F1E2-6CB0180DC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7F87-0C03-0A4B-DB6E-4ABADF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4052E-8C3A-FC45-CE47-BC4339EF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BAB2F-AAEB-C1B8-F412-34DE5D9F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93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61CE-EF00-1E6D-8E3F-D73C8DBA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161D4-8EB5-C225-8ACD-1BDBB23E3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F09A9-681A-DC52-9288-1126C673D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D66F1-4082-5792-181C-C309BA97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D24C3-74AB-8CEE-A8DD-27D46BA6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E6167-C1D9-91C6-694A-5291ED1B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6767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1D35-05EA-3406-2DE2-55B10619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EA2F-0A66-4EE5-537C-472F13436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AFB14-1A58-FD35-EDD4-20FA7BBF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01D1A-4868-CF6C-356D-49A0238F9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773D58-6643-1705-A0ED-1638F54C8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6138CF-8C4F-D5B4-3B8E-9A497169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9E2C4-A6EA-1025-4B9D-9D1A3AF0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DF83D-6357-5265-0D5E-D401D5D9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071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801E-4CE8-DB0E-070F-166782607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763AB-8AD8-7129-B680-4C3F90C3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7E2DE-5E41-5F14-EFD8-4B8D2336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F05E4-0CB7-0F35-DA45-55BF2B17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9266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AA492-B10B-93AD-3C93-2D9C9FC6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166EF-1397-B9FA-1942-7460E137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43FBD-9A0A-A427-30CA-52CED247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1994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EA03-0400-F4FC-E67B-7EC18314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5AFC4-10D0-3FE5-637D-616E6CB74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8BA40-8D5F-0A14-9290-7EE441E60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3D253-237D-1A28-CA46-A9DCCD65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492E1-EBE9-6784-CD0A-1A4BABCF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45C64-F8EA-9739-F5F2-52163681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9808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265D-0A92-6C5D-2E71-CF7E206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EC5B4-A392-3A40-2FF3-2A8D6B787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B1109-3D08-348B-4ECB-96CA4FF3B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C7F4E-5589-804F-0BAA-0169DC72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D693D-DCB1-4A2A-4DE8-C11A6DD4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13785-0A19-726D-645D-2B375D76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2461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739AB-6276-1CFC-F560-88226B01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A6269-8446-3F5A-D34C-56395929F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E294D-5BF0-511F-1101-A564EFE7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C563-ADA3-B172-B19D-80F091B5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D352B-0FE1-2401-B625-0A775F78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923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FC129-5C0C-6B17-BD8E-AAB3AA2D7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976FE-E372-8459-ADFB-D6591A8B6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116E6-E32B-6F1A-264E-982C551B1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6724-19AE-4360-33FE-6A05E1A8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F3B1-6CF0-9353-E85B-C3646E93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9229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292FA-7F8D-BC05-3D17-D6FE5357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3EB79-98C1-3157-6DDC-4017EC27A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D9984-0993-1753-0320-839C65683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CFBEB-9D41-49BF-B4ED-560E0B78FE16}" type="datetimeFigureOut">
              <a:rPr lang="en-NZ" smtClean="0"/>
              <a:t>28/03/2025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AD381-0C0F-D359-5B30-C442779D4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C2238-5FCA-1285-5AF6-C9EA4E9D0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6E4DC-10C0-44E9-8EB6-B2BC85710BA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4025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FCC41E-5FB4-EFA8-57B7-5212926A354B}"/>
              </a:ext>
            </a:extLst>
          </p:cNvPr>
          <p:cNvSpPr txBox="1"/>
          <p:nvPr/>
        </p:nvSpPr>
        <p:spPr>
          <a:xfrm>
            <a:off x="6096000" y="62754"/>
            <a:ext cx="57284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1000" b="1" dirty="0"/>
              <a:t>VI. Structures of the First Order</a:t>
            </a:r>
          </a:p>
          <a:p>
            <a:pPr>
              <a:buNone/>
            </a:pPr>
            <a:r>
              <a:rPr lang="en-NZ" sz="1000" dirty="0"/>
              <a:t>I – Tien Shan fold system, II – </a:t>
            </a:r>
            <a:r>
              <a:rPr lang="en-NZ" sz="1000" dirty="0" err="1"/>
              <a:t>Karatau</a:t>
            </a:r>
            <a:r>
              <a:rPr lang="en-NZ" sz="1000" dirty="0"/>
              <a:t> anticlinorium, III – </a:t>
            </a:r>
            <a:r>
              <a:rPr lang="en-NZ" sz="1000" dirty="0" err="1"/>
              <a:t>Kyzylkum</a:t>
            </a:r>
            <a:r>
              <a:rPr lang="en-NZ" sz="1000" dirty="0"/>
              <a:t> synclinorium, IV – </a:t>
            </a:r>
            <a:r>
              <a:rPr lang="en-NZ" sz="1000" dirty="0" err="1"/>
              <a:t>Konratbashi</a:t>
            </a:r>
            <a:r>
              <a:rPr lang="en-NZ" sz="1000" dirty="0"/>
              <a:t> trough, V – </a:t>
            </a:r>
            <a:r>
              <a:rPr lang="en-NZ" sz="1000" dirty="0" err="1"/>
              <a:t>Stepnyak</a:t>
            </a:r>
            <a:r>
              <a:rPr lang="en-NZ" sz="1000" dirty="0"/>
              <a:t> synclinorium, VI – Milyan uplift, VII – Milyan trough</a:t>
            </a:r>
          </a:p>
          <a:p>
            <a:pPr>
              <a:buNone/>
            </a:pPr>
            <a:r>
              <a:rPr lang="en-NZ" sz="1000" b="1" dirty="0"/>
              <a:t>Structures of the Second Order for the Tien Shan Depression and Milyan Basin</a:t>
            </a:r>
          </a:p>
          <a:p>
            <a:pPr>
              <a:buNone/>
            </a:pPr>
            <a:r>
              <a:rPr lang="en-NZ" sz="1000" b="1" dirty="0"/>
              <a:t>a) Folds and Synclines</a:t>
            </a:r>
          </a:p>
          <a:p>
            <a:pPr>
              <a:buFont typeface="+mj-lt"/>
              <a:buAutoNum type="arabicPeriod"/>
            </a:pPr>
            <a:r>
              <a:rPr lang="en-NZ" sz="1000" dirty="0" err="1"/>
              <a:t>Mikhailovsk</a:t>
            </a:r>
            <a:r>
              <a:rPr lang="en-NZ" sz="1000" dirty="0"/>
              <a:t>, 2. Central Tien Shan, 3. South-</a:t>
            </a:r>
            <a:r>
              <a:rPr lang="en-NZ" sz="1000" dirty="0" err="1"/>
              <a:t>Malmysh</a:t>
            </a:r>
            <a:r>
              <a:rPr lang="en-NZ" sz="1000" dirty="0"/>
              <a:t>, 4. Shor-Tau, 5. Aksu-</a:t>
            </a:r>
            <a:r>
              <a:rPr lang="en-NZ" sz="1000" dirty="0" err="1"/>
              <a:t>Dzhabagly</a:t>
            </a:r>
            <a:r>
              <a:rPr lang="en-NZ" sz="1000" dirty="0"/>
              <a:t>, 6. South-</a:t>
            </a:r>
            <a:r>
              <a:rPr lang="en-NZ" sz="1000" dirty="0" err="1"/>
              <a:t>Terskey</a:t>
            </a:r>
            <a:r>
              <a:rPr lang="en-NZ" sz="1000" dirty="0"/>
              <a:t>, 7. East-</a:t>
            </a:r>
            <a:r>
              <a:rPr lang="en-NZ" sz="1000" dirty="0" err="1"/>
              <a:t>Kassansky</a:t>
            </a:r>
            <a:r>
              <a:rPr lang="en-NZ" sz="1000" dirty="0"/>
              <a:t> (</a:t>
            </a:r>
            <a:r>
              <a:rPr lang="en-NZ" sz="1000" dirty="0" err="1"/>
              <a:t>Kumbel</a:t>
            </a:r>
            <a:r>
              <a:rPr lang="en-NZ" sz="1000" dirty="0"/>
              <a:t>), 8. East-Santa-Shor, 9. East-</a:t>
            </a:r>
            <a:r>
              <a:rPr lang="en-NZ" sz="1000" dirty="0" err="1"/>
              <a:t>Shabdar</a:t>
            </a:r>
            <a:r>
              <a:rPr lang="en-NZ" sz="1000" dirty="0"/>
              <a:t>, 10. Northeast-</a:t>
            </a:r>
            <a:r>
              <a:rPr lang="en-NZ" sz="1000" dirty="0" err="1"/>
              <a:t>Sabdar</a:t>
            </a:r>
            <a:r>
              <a:rPr lang="en-NZ" sz="1000" dirty="0"/>
              <a:t>, 11. Northeast-</a:t>
            </a:r>
            <a:r>
              <a:rPr lang="en-NZ" sz="1000" dirty="0" err="1"/>
              <a:t>Kassansky</a:t>
            </a:r>
            <a:r>
              <a:rPr lang="en-NZ" sz="1000" dirty="0"/>
              <a:t>, 12. </a:t>
            </a:r>
            <a:r>
              <a:rPr lang="en-NZ" sz="1000" dirty="0" err="1"/>
              <a:t>Karakuldzha</a:t>
            </a:r>
            <a:r>
              <a:rPr lang="en-NZ" sz="1000" dirty="0"/>
              <a:t>, 13. </a:t>
            </a:r>
            <a:r>
              <a:rPr lang="en-NZ" sz="1000" dirty="0" err="1"/>
              <a:t>Sarydzhas</a:t>
            </a:r>
            <a:r>
              <a:rPr lang="en-NZ" sz="1000" dirty="0"/>
              <a:t>, 14. North-</a:t>
            </a:r>
            <a:r>
              <a:rPr lang="en-NZ" sz="1000" dirty="0" err="1"/>
              <a:t>Terskey</a:t>
            </a:r>
            <a:r>
              <a:rPr lang="en-NZ" sz="1000" dirty="0"/>
              <a:t>, 15. </a:t>
            </a:r>
            <a:r>
              <a:rPr lang="en-NZ" sz="1000" dirty="0" err="1"/>
              <a:t>Toktogul</a:t>
            </a:r>
            <a:r>
              <a:rPr lang="en-NZ" sz="1000" dirty="0"/>
              <a:t>, 16. Chon-Kemin, 17. </a:t>
            </a:r>
            <a:r>
              <a:rPr lang="en-NZ" sz="1000" dirty="0" err="1"/>
              <a:t>Taldykorgan</a:t>
            </a:r>
            <a:r>
              <a:rPr lang="en-NZ" sz="1000" dirty="0"/>
              <a:t>, 18. </a:t>
            </a:r>
            <a:r>
              <a:rPr lang="en-NZ" sz="1000" dirty="0" err="1"/>
              <a:t>Shoptykul</a:t>
            </a:r>
            <a:r>
              <a:rPr lang="en-NZ" sz="1000" dirty="0"/>
              <a:t> (Filimonov), 19. </a:t>
            </a:r>
            <a:r>
              <a:rPr lang="en-NZ" sz="1000" dirty="0" err="1"/>
              <a:t>Agtash</a:t>
            </a:r>
            <a:r>
              <a:rPr lang="en-NZ" sz="1000" dirty="0"/>
              <a:t>, 20. Knyazev, 21. </a:t>
            </a:r>
            <a:r>
              <a:rPr lang="en-NZ" sz="1000" dirty="0" err="1"/>
              <a:t>Uzin</a:t>
            </a:r>
            <a:r>
              <a:rPr lang="en-NZ" sz="1000" dirty="0"/>
              <a:t>, 22. </a:t>
            </a:r>
            <a:r>
              <a:rPr lang="en-NZ" sz="1000" dirty="0" err="1"/>
              <a:t>Uzak</a:t>
            </a:r>
            <a:r>
              <a:rPr lang="en-NZ" sz="1000" dirty="0"/>
              <a:t>, 23. </a:t>
            </a:r>
            <a:r>
              <a:rPr lang="en-NZ" sz="1000" dirty="0" err="1"/>
              <a:t>Naryn</a:t>
            </a:r>
            <a:r>
              <a:rPr lang="en-NZ" sz="1000" dirty="0"/>
              <a:t>, 24. </a:t>
            </a:r>
            <a:r>
              <a:rPr lang="en-NZ" sz="1000" dirty="0" err="1"/>
              <a:t>Kochkor</a:t>
            </a:r>
            <a:r>
              <a:rPr lang="en-NZ" sz="1000" dirty="0"/>
              <a:t>, 25. </a:t>
            </a:r>
            <a:r>
              <a:rPr lang="en-NZ" sz="1000" dirty="0" err="1"/>
              <a:t>Dzhety</a:t>
            </a:r>
            <a:r>
              <a:rPr lang="en-NZ" sz="1000" dirty="0"/>
              <a:t>-Oguz, 26. </a:t>
            </a:r>
            <a:r>
              <a:rPr lang="en-NZ" sz="1000" dirty="0" err="1"/>
              <a:t>Chatyr</a:t>
            </a:r>
            <a:r>
              <a:rPr lang="en-NZ" sz="1000" dirty="0"/>
              <a:t>-Kul, 27. Ala-Buka, 28. </a:t>
            </a:r>
            <a:r>
              <a:rPr lang="en-NZ" sz="1000" dirty="0" err="1"/>
              <a:t>Chandalash</a:t>
            </a:r>
            <a:r>
              <a:rPr lang="en-NZ" sz="1000" dirty="0"/>
              <a:t>, 29. </a:t>
            </a:r>
            <a:r>
              <a:rPr lang="en-NZ" sz="1000" dirty="0" err="1"/>
              <a:t>Novodzhereliev</a:t>
            </a:r>
            <a:r>
              <a:rPr lang="en-NZ" sz="1000" dirty="0"/>
              <a:t>, 30. </a:t>
            </a:r>
            <a:r>
              <a:rPr lang="en-NZ" sz="1000" dirty="0" err="1"/>
              <a:t>Nolbaldinsky</a:t>
            </a:r>
            <a:r>
              <a:rPr lang="en-NZ" sz="1000" dirty="0"/>
              <a:t>, 31. </a:t>
            </a:r>
            <a:r>
              <a:rPr lang="en-NZ" sz="1000" dirty="0" err="1"/>
              <a:t>Zhanibek</a:t>
            </a:r>
            <a:endParaRPr lang="en-NZ" sz="1000" dirty="0"/>
          </a:p>
          <a:p>
            <a:pPr>
              <a:buNone/>
            </a:pPr>
            <a:r>
              <a:rPr lang="en-NZ" sz="1000" b="1" dirty="0"/>
              <a:t>b) Anticlines</a:t>
            </a:r>
          </a:p>
          <a:p>
            <a:pPr>
              <a:buFont typeface="+mj-lt"/>
              <a:buAutoNum type="arabicPeriod"/>
            </a:pPr>
            <a:r>
              <a:rPr lang="en-NZ" sz="1000" dirty="0"/>
              <a:t>Kichi-</a:t>
            </a:r>
            <a:r>
              <a:rPr lang="en-NZ" sz="1000" dirty="0" err="1"/>
              <a:t>Terskey</a:t>
            </a:r>
            <a:r>
              <a:rPr lang="en-NZ" sz="1000" dirty="0"/>
              <a:t>, 2. </a:t>
            </a:r>
            <a:r>
              <a:rPr lang="en-NZ" sz="1000" dirty="0" err="1"/>
              <a:t>Sarydzhaz-Terskey</a:t>
            </a:r>
            <a:r>
              <a:rPr lang="en-NZ" sz="1000" dirty="0"/>
              <a:t>, 3. </a:t>
            </a:r>
            <a:r>
              <a:rPr lang="en-NZ" sz="1000" dirty="0" err="1"/>
              <a:t>Nemansky</a:t>
            </a:r>
            <a:r>
              <a:rPr lang="en-NZ" sz="1000" dirty="0"/>
              <a:t>, 4. </a:t>
            </a:r>
            <a:r>
              <a:rPr lang="en-NZ" sz="1000" dirty="0" err="1"/>
              <a:t>Psekhako</a:t>
            </a:r>
            <a:r>
              <a:rPr lang="en-NZ" sz="1000" dirty="0"/>
              <a:t>, 5. Mazar, 6. </a:t>
            </a:r>
            <a:r>
              <a:rPr lang="en-NZ" sz="1000" dirty="0" err="1"/>
              <a:t>Karadzhorgo</a:t>
            </a:r>
            <a:r>
              <a:rPr lang="en-NZ" sz="1000" dirty="0"/>
              <a:t>, 7. </a:t>
            </a:r>
            <a:r>
              <a:rPr lang="en-NZ" sz="1000" dirty="0" err="1"/>
              <a:t>Aktash</a:t>
            </a:r>
            <a:r>
              <a:rPr lang="en-NZ" sz="1000" dirty="0"/>
              <a:t>, 8. Kyzyl-Agash, 9. </a:t>
            </a:r>
            <a:r>
              <a:rPr lang="en-NZ" sz="1000" dirty="0" err="1"/>
              <a:t>Uch-Koshkon</a:t>
            </a:r>
            <a:r>
              <a:rPr lang="en-NZ" sz="1000" dirty="0"/>
              <a:t>, 10. South-</a:t>
            </a:r>
            <a:r>
              <a:rPr lang="en-NZ" sz="1000" dirty="0" err="1"/>
              <a:t>Bulun</a:t>
            </a:r>
            <a:r>
              <a:rPr lang="en-NZ" sz="1000" dirty="0"/>
              <a:t>, 11. North-</a:t>
            </a:r>
            <a:r>
              <a:rPr lang="en-NZ" sz="1000" dirty="0" err="1"/>
              <a:t>Bulun</a:t>
            </a:r>
            <a:r>
              <a:rPr lang="en-NZ" sz="1000" dirty="0"/>
              <a:t>, 12. </a:t>
            </a:r>
            <a:r>
              <a:rPr lang="en-NZ" sz="1000" dirty="0" err="1"/>
              <a:t>Karatau</a:t>
            </a:r>
            <a:r>
              <a:rPr lang="en-NZ" sz="1000" dirty="0"/>
              <a:t>, 13. </a:t>
            </a:r>
            <a:r>
              <a:rPr lang="en-NZ" sz="1000" dirty="0" err="1"/>
              <a:t>Yangiabad</a:t>
            </a:r>
            <a:r>
              <a:rPr lang="en-NZ" sz="1000" dirty="0"/>
              <a:t>, 14. </a:t>
            </a:r>
            <a:r>
              <a:rPr lang="en-NZ" sz="1000" dirty="0" err="1"/>
              <a:t>Karatal</a:t>
            </a:r>
            <a:r>
              <a:rPr lang="en-NZ" sz="1000" dirty="0"/>
              <a:t>, 15. Yangi-Kurama, 16. Aksu, 17. Kyzyl-</a:t>
            </a:r>
            <a:r>
              <a:rPr lang="en-NZ" sz="1000" dirty="0" err="1"/>
              <a:t>Dzhar</a:t>
            </a:r>
            <a:r>
              <a:rPr lang="en-NZ" sz="1000" dirty="0"/>
              <a:t>, 18. Orto-</a:t>
            </a:r>
            <a:r>
              <a:rPr lang="en-NZ" sz="1000" dirty="0" err="1"/>
              <a:t>Tokoy</a:t>
            </a:r>
            <a:r>
              <a:rPr lang="en-NZ" sz="1000" dirty="0"/>
              <a:t>, 19. Osh, 20. Namangan, 21. Ferghana, 22. Kokand, 23. Tashkent, 24. Chimkent, 25. Dzhambul, 26. Alma-Ata, 27. </a:t>
            </a:r>
            <a:r>
              <a:rPr lang="en-NZ" sz="1000" dirty="0" err="1"/>
              <a:t>Przhevalsk</a:t>
            </a:r>
            <a:r>
              <a:rPr lang="en-NZ" sz="1000" dirty="0"/>
              <a:t>, 28. </a:t>
            </a:r>
            <a:r>
              <a:rPr lang="en-NZ" sz="1000" dirty="0" err="1"/>
              <a:t>Sarybulak</a:t>
            </a:r>
            <a:r>
              <a:rPr lang="en-NZ" sz="1000" dirty="0"/>
              <a:t>, 29</a:t>
            </a:r>
            <a:r>
              <a:rPr lang="en-NZ" sz="1000" dirty="0">
                <a:solidFill>
                  <a:srgbClr val="FF0000"/>
                </a:solidFill>
              </a:rPr>
              <a:t>. </a:t>
            </a:r>
            <a:r>
              <a:rPr lang="en-NZ" sz="1000" dirty="0" err="1">
                <a:solidFill>
                  <a:srgbClr val="FF0000"/>
                </a:solidFill>
              </a:rPr>
              <a:t>Ilyinsk</a:t>
            </a:r>
            <a:r>
              <a:rPr lang="en-NZ" sz="1000" dirty="0"/>
              <a:t>, 30. Kazakh, 31. </a:t>
            </a:r>
            <a:r>
              <a:rPr lang="en-NZ" sz="1000" dirty="0" err="1">
                <a:solidFill>
                  <a:srgbClr val="FF0000"/>
                </a:solidFill>
              </a:rPr>
              <a:t>Levoberezhny</a:t>
            </a:r>
            <a:endParaRPr lang="en-NZ" sz="10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NZ" sz="1000" b="1" dirty="0"/>
              <a:t>Mass Intrusions</a:t>
            </a:r>
          </a:p>
          <a:p>
            <a:pPr>
              <a:buFont typeface="+mj-lt"/>
              <a:buAutoNum type="arabicPeriod"/>
            </a:pPr>
            <a:r>
              <a:rPr lang="en-NZ" sz="1000" dirty="0"/>
              <a:t>Karatas, 2. </a:t>
            </a:r>
            <a:r>
              <a:rPr lang="en-NZ" sz="1000" dirty="0" err="1"/>
              <a:t>Obvalovsky</a:t>
            </a:r>
            <a:r>
              <a:rPr lang="en-NZ" sz="1000" dirty="0"/>
              <a:t>, 3. </a:t>
            </a:r>
            <a:r>
              <a:rPr lang="en-NZ" sz="1000" dirty="0" err="1"/>
              <a:t>Sarybulak</a:t>
            </a:r>
            <a:r>
              <a:rPr lang="en-NZ" sz="1000" dirty="0"/>
              <a:t> (</a:t>
            </a:r>
            <a:r>
              <a:rPr lang="en-NZ" sz="1000" dirty="0" err="1"/>
              <a:t>Tastyk</a:t>
            </a:r>
            <a:r>
              <a:rPr lang="en-NZ" sz="1000" dirty="0"/>
              <a:t>), 4. Sary-</a:t>
            </a:r>
            <a:r>
              <a:rPr lang="en-NZ" sz="1000" dirty="0" err="1"/>
              <a:t>Choku</a:t>
            </a:r>
            <a:r>
              <a:rPr lang="en-NZ" sz="1000" dirty="0"/>
              <a:t>, 5. Borsky, 6. </a:t>
            </a:r>
            <a:r>
              <a:rPr lang="en-NZ" sz="1000" dirty="0" err="1"/>
              <a:t>Dzhergalan</a:t>
            </a:r>
            <a:r>
              <a:rPr lang="en-NZ" sz="1000" dirty="0"/>
              <a:t>, 7. Kyzyl-Sary, 8. </a:t>
            </a:r>
            <a:r>
              <a:rPr lang="en-NZ" sz="1000" dirty="0" err="1"/>
              <a:t>Uch</a:t>
            </a:r>
            <a:r>
              <a:rPr lang="en-NZ" sz="1000" dirty="0"/>
              <a:t>-Terek, 9. </a:t>
            </a:r>
            <a:r>
              <a:rPr lang="en-NZ" sz="1000" dirty="0" err="1"/>
              <a:t>Kubasar</a:t>
            </a:r>
            <a:r>
              <a:rPr lang="en-NZ" sz="1000" dirty="0"/>
              <a:t>, 10. </a:t>
            </a:r>
            <a:r>
              <a:rPr lang="en-NZ" sz="1000" dirty="0" err="1"/>
              <a:t>Dzhagalak</a:t>
            </a:r>
            <a:r>
              <a:rPr lang="en-NZ" sz="1000" dirty="0"/>
              <a:t>, 11. South-Aksu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009C3-DFB5-5EF5-81E6-7D7ED3ACE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90" y="0"/>
            <a:ext cx="4680020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BC5198-569D-DC3A-8463-4E7FC4284AFA}"/>
              </a:ext>
            </a:extLst>
          </p:cNvPr>
          <p:cNvCxnSpPr/>
          <p:nvPr/>
        </p:nvCxnSpPr>
        <p:spPr>
          <a:xfrm flipH="1">
            <a:off x="5396753" y="1506071"/>
            <a:ext cx="618565" cy="62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42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96ADC9-2FA1-C9CE-427A-6F4ED113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150"/>
          <a:stretch/>
        </p:blipFill>
        <p:spPr>
          <a:xfrm>
            <a:off x="2886414" y="2537010"/>
            <a:ext cx="4680020" cy="2115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6B69EC-4423-AC02-F3BE-4AAA8BC243B0}"/>
              </a:ext>
            </a:extLst>
          </p:cNvPr>
          <p:cNvSpPr txBox="1"/>
          <p:nvPr/>
        </p:nvSpPr>
        <p:spPr>
          <a:xfrm>
            <a:off x="2581724" y="323818"/>
            <a:ext cx="224565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Geological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b="1" dirty="0"/>
              <a:t>K</a:t>
            </a:r>
            <a:r>
              <a:rPr lang="en-NZ" sz="800" dirty="0"/>
              <a:t> - Karelia Folded Area, </a:t>
            </a:r>
            <a:r>
              <a:rPr lang="en-NZ" sz="800" dirty="0" err="1"/>
              <a:t>Belomorian</a:t>
            </a:r>
            <a:r>
              <a:rPr lang="en-NZ" sz="800" dirty="0"/>
              <a:t> Series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b="1" dirty="0"/>
              <a:t>B</a:t>
            </a:r>
            <a:r>
              <a:rPr lang="en-NZ" sz="800" dirty="0"/>
              <a:t> - Baikal Folded Area, </a:t>
            </a:r>
            <a:r>
              <a:rPr lang="en-NZ" sz="800" dirty="0" err="1"/>
              <a:t>Konektaskaya</a:t>
            </a:r>
            <a:r>
              <a:rPr lang="en-NZ" sz="800" dirty="0"/>
              <a:t> Suite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b="1" dirty="0"/>
              <a:t>Ba</a:t>
            </a:r>
            <a:r>
              <a:rPr lang="en-NZ" sz="800" dirty="0"/>
              <a:t> - Zones of </a:t>
            </a:r>
            <a:r>
              <a:rPr lang="en-NZ" sz="800" dirty="0" err="1"/>
              <a:t>Embasement</a:t>
            </a:r>
            <a:r>
              <a:rPr lang="en-NZ" sz="800" dirty="0"/>
              <a:t> Activation, Boundary, </a:t>
            </a:r>
            <a:r>
              <a:rPr lang="en-NZ" sz="800" dirty="0" err="1"/>
              <a:t>Novokiev-Burunian</a:t>
            </a:r>
            <a:r>
              <a:rPr lang="en-NZ" sz="800" dirty="0"/>
              <a:t>, and Bug-Dniester Series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4DF7941-E0B2-E4B0-0E57-3B0360652BDE}"/>
              </a:ext>
            </a:extLst>
          </p:cNvPr>
          <p:cNvSpPr/>
          <p:nvPr/>
        </p:nvSpPr>
        <p:spPr>
          <a:xfrm>
            <a:off x="2886414" y="2617694"/>
            <a:ext cx="116762" cy="304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9E322-AF6E-93A3-396D-C4DF0BBF6508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2886414" y="1031704"/>
            <a:ext cx="275886" cy="1738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E941CF-13E1-0AB2-5DEB-011B052FD1E9}"/>
              </a:ext>
            </a:extLst>
          </p:cNvPr>
          <p:cNvSpPr txBox="1"/>
          <p:nvPr/>
        </p:nvSpPr>
        <p:spPr>
          <a:xfrm>
            <a:off x="95501" y="1214334"/>
            <a:ext cx="203041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Caledonian Folded Areas and </a:t>
            </a:r>
            <a:r>
              <a:rPr lang="en-NZ" sz="800" b="1" dirty="0" err="1"/>
              <a:t>Paleozoic</a:t>
            </a:r>
            <a:r>
              <a:rPr lang="en-NZ" sz="800" b="1" dirty="0"/>
              <a:t> Activation</a:t>
            </a:r>
          </a:p>
          <a:p>
            <a:pPr>
              <a:buFont typeface="+mj-lt"/>
              <a:buAutoNum type="arabicPeriod"/>
            </a:pPr>
            <a:r>
              <a:rPr lang="en-NZ" sz="800" b="1" dirty="0"/>
              <a:t>Caledonian Folded Stage:</a:t>
            </a:r>
            <a:endParaRPr lang="en-NZ" sz="800" dirty="0"/>
          </a:p>
          <a:p>
            <a:pPr marL="742950" lvl="1" indent="-285750">
              <a:buFont typeface="+mj-lt"/>
              <a:buAutoNum type="arabicPeriod"/>
            </a:pPr>
            <a:r>
              <a:rPr lang="en-NZ" sz="800" dirty="0"/>
              <a:t>Early Structural Stage: </a:t>
            </a:r>
            <a:r>
              <a:rPr lang="en-NZ" sz="800" dirty="0" err="1"/>
              <a:t>Nuomansk</a:t>
            </a:r>
            <a:r>
              <a:rPr lang="en-NZ" sz="800" dirty="0"/>
              <a:t>, </a:t>
            </a:r>
            <a:r>
              <a:rPr lang="en-NZ" sz="800" dirty="0" err="1"/>
              <a:t>Tavasinsk</a:t>
            </a:r>
            <a:r>
              <a:rPr lang="en-NZ" sz="800" dirty="0"/>
              <a:t>, </a:t>
            </a:r>
            <a:r>
              <a:rPr lang="en-NZ" sz="800" dirty="0" err="1"/>
              <a:t>Tallebayinsk</a:t>
            </a:r>
            <a:r>
              <a:rPr lang="en-NZ" sz="800" dirty="0"/>
              <a:t>, </a:t>
            </a:r>
            <a:r>
              <a:rPr lang="en-NZ" sz="800" dirty="0" err="1"/>
              <a:t>Elyanchinsk-Antisk</a:t>
            </a:r>
            <a:r>
              <a:rPr lang="en-NZ" sz="800" dirty="0"/>
              <a:t>, </a:t>
            </a:r>
            <a:r>
              <a:rPr lang="en-NZ" sz="800" dirty="0" err="1"/>
              <a:t>Kuzbasorinsk</a:t>
            </a:r>
            <a:r>
              <a:rPr lang="en-NZ" sz="800" dirty="0"/>
              <a:t>, </a:t>
            </a:r>
            <a:r>
              <a:rPr lang="en-NZ" sz="800" dirty="0" err="1"/>
              <a:t>Karakolsk</a:t>
            </a:r>
            <a:r>
              <a:rPr lang="en-NZ" sz="800" dirty="0"/>
              <a:t> Suites, and </a:t>
            </a:r>
            <a:r>
              <a:rPr lang="en-NZ" sz="800" dirty="0" err="1"/>
              <a:t>Ognemar</a:t>
            </a:r>
            <a:r>
              <a:rPr lang="en-NZ" sz="800" dirty="0"/>
              <a:t> Groups.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NZ" sz="800" dirty="0"/>
              <a:t>Second Structural Stage: </a:t>
            </a:r>
            <a:r>
              <a:rPr lang="en-NZ" sz="800" dirty="0" err="1"/>
              <a:t>Nauminsk</a:t>
            </a:r>
            <a:r>
              <a:rPr lang="en-NZ" sz="800" dirty="0"/>
              <a:t> Plutonic Complex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NZ" sz="800" dirty="0"/>
              <a:t>Magmatic Formations: Volcanic-Terrigenous Deposits</a:t>
            </a:r>
          </a:p>
          <a:p>
            <a:pPr>
              <a:buFont typeface="+mj-lt"/>
              <a:buAutoNum type="arabicPeriod"/>
            </a:pPr>
            <a:r>
              <a:rPr lang="en-NZ" sz="800" b="1" dirty="0"/>
              <a:t>Hercynian Folded Complex (Orogenic Stage)</a:t>
            </a:r>
            <a:endParaRPr lang="en-NZ" sz="800" dirty="0"/>
          </a:p>
          <a:p>
            <a:pPr marL="742950" lvl="1" indent="-285750">
              <a:buFont typeface="+mj-lt"/>
              <a:buAutoNum type="arabicPeriod"/>
            </a:pPr>
            <a:r>
              <a:rPr lang="en-NZ" sz="800" dirty="0"/>
              <a:t>Intrusions of Subalkaline Granite, Granodiorite, Adamellite Complex</a:t>
            </a:r>
          </a:p>
          <a:p>
            <a:pPr>
              <a:buFont typeface="+mj-lt"/>
              <a:buAutoNum type="arabicPeriod"/>
            </a:pPr>
            <a:r>
              <a:rPr lang="en-NZ" sz="800" b="1" dirty="0"/>
              <a:t>Late Structural Stage:</a:t>
            </a:r>
            <a:endParaRPr lang="en-NZ" sz="800" dirty="0"/>
          </a:p>
          <a:p>
            <a:pPr marL="742950" lvl="1" indent="-285750">
              <a:buFont typeface="+mj-lt"/>
              <a:buAutoNum type="arabicPeriod"/>
            </a:pPr>
            <a:r>
              <a:rPr lang="en-NZ" sz="800" dirty="0"/>
              <a:t>Middle </a:t>
            </a:r>
            <a:r>
              <a:rPr lang="en-NZ" sz="800" dirty="0" err="1"/>
              <a:t>Paleozoic</a:t>
            </a:r>
            <a:r>
              <a:rPr lang="en-NZ" sz="800" dirty="0"/>
              <a:t> Volcanic-Terrigenous Deposits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NZ" sz="800" dirty="0"/>
              <a:t>Upper Structural Stage: Middle Carboniferous Clastic Formations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1B1307E-19FE-EC1A-A341-99A3CB96CC3B}"/>
              </a:ext>
            </a:extLst>
          </p:cNvPr>
          <p:cNvSpPr/>
          <p:nvPr/>
        </p:nvSpPr>
        <p:spPr>
          <a:xfrm>
            <a:off x="2886414" y="3003177"/>
            <a:ext cx="116762" cy="137197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B50125-934C-4697-6382-240D27AAA418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2235200" y="3060700"/>
            <a:ext cx="651214" cy="62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AF070EB-7BA6-93AD-F27E-F01040421E4D}"/>
              </a:ext>
            </a:extLst>
          </p:cNvPr>
          <p:cNvSpPr txBox="1"/>
          <p:nvPr/>
        </p:nvSpPr>
        <p:spPr>
          <a:xfrm>
            <a:off x="5226424" y="753586"/>
            <a:ext cx="2366962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Tectonic Formations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b="1" dirty="0"/>
              <a:t>I. Volcanogenic and Volcano-Sedimentary Formations</a:t>
            </a:r>
            <a:endParaRPr lang="en-NZ" sz="800" dirty="0"/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Clastic-Terrigenous-Basalt Formations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Basalt-Terrigenous Formations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Andesite-Basalt Formations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 err="1"/>
              <a:t>Epimetamorphic</a:t>
            </a:r>
            <a:r>
              <a:rPr lang="en-NZ" sz="800" dirty="0"/>
              <a:t> Porphyrites and </a:t>
            </a:r>
            <a:r>
              <a:rPr lang="en-NZ" sz="800" dirty="0" err="1"/>
              <a:t>Trachytes</a:t>
            </a:r>
            <a:endParaRPr lang="en-NZ" sz="800" dirty="0"/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Metamorphosed Formations (Gneiss, Schist, Amphibolite)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Quartz-Sandstone Formations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Tuffaceous-Terrigenous Formations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3EA421F0-E325-180E-3FAA-E1682A590764}"/>
              </a:ext>
            </a:extLst>
          </p:cNvPr>
          <p:cNvSpPr/>
          <p:nvPr/>
        </p:nvSpPr>
        <p:spPr>
          <a:xfrm>
            <a:off x="4349160" y="2688945"/>
            <a:ext cx="203789" cy="114083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7FB5C5-0D6C-1D33-B19E-BE06905E731C}"/>
              </a:ext>
            </a:extLst>
          </p:cNvPr>
          <p:cNvCxnSpPr>
            <a:endCxn id="22" idx="1"/>
          </p:cNvCxnSpPr>
          <p:nvPr/>
        </p:nvCxnSpPr>
        <p:spPr>
          <a:xfrm flipV="1">
            <a:off x="4465923" y="1476861"/>
            <a:ext cx="760501" cy="114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F9DA40-D572-8DD8-D1F1-A78E908782A0}"/>
              </a:ext>
            </a:extLst>
          </p:cNvPr>
          <p:cNvSpPr txBox="1"/>
          <p:nvPr/>
        </p:nvSpPr>
        <p:spPr>
          <a:xfrm>
            <a:off x="4143749" y="5075138"/>
            <a:ext cx="2165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NZ" sz="800" b="1" dirty="0"/>
              <a:t>II. Intrusive Formations</a:t>
            </a:r>
            <a:endParaRPr lang="en-NZ" sz="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Granodiorites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Subalkaline Granitoids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sz="800" dirty="0"/>
              <a:t>Gabbro-Norite, Shoshonites, Nepheline Syenites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5212B5B0-3F10-5C88-760D-5980303D6BDC}"/>
              </a:ext>
            </a:extLst>
          </p:cNvPr>
          <p:cNvSpPr/>
          <p:nvPr/>
        </p:nvSpPr>
        <p:spPr>
          <a:xfrm>
            <a:off x="4343746" y="3832944"/>
            <a:ext cx="203789" cy="534308"/>
          </a:xfrm>
          <a:prstGeom prst="leftBrace">
            <a:avLst>
              <a:gd name="adj1" fmla="val 8333"/>
              <a:gd name="adj2" fmla="val 514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9B90BE-207C-0F64-79A3-B0D422F94368}"/>
              </a:ext>
            </a:extLst>
          </p:cNvPr>
          <p:cNvCxnSpPr>
            <a:cxnSpLocks/>
          </p:cNvCxnSpPr>
          <p:nvPr/>
        </p:nvCxnSpPr>
        <p:spPr>
          <a:xfrm>
            <a:off x="4343746" y="4197350"/>
            <a:ext cx="274577" cy="87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2891456-DEE5-AB8D-4389-B713F94C123B}"/>
              </a:ext>
            </a:extLst>
          </p:cNvPr>
          <p:cNvSpPr txBox="1"/>
          <p:nvPr/>
        </p:nvSpPr>
        <p:spPr>
          <a:xfrm>
            <a:off x="8291829" y="3120132"/>
            <a:ext cx="256209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Boundaries of Structural-Formational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Boundaries of fold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Boundaries of folded complexes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Boundaries of structural "floors"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Boundaries of structural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Boundaries of formations and intrusions</a:t>
            </a:r>
          </a:p>
          <a:p>
            <a:pPr>
              <a:buNone/>
            </a:pPr>
            <a:r>
              <a:rPr lang="en-NZ" sz="800" b="1" dirty="0"/>
              <a:t>Structural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Structural lines with the direction of rock dip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073CC002-4252-C736-6B48-5A430C0CE43B}"/>
              </a:ext>
            </a:extLst>
          </p:cNvPr>
          <p:cNvSpPr/>
          <p:nvPr/>
        </p:nvSpPr>
        <p:spPr>
          <a:xfrm>
            <a:off x="5705471" y="2618648"/>
            <a:ext cx="118750" cy="640713"/>
          </a:xfrm>
          <a:prstGeom prst="leftBrace">
            <a:avLst>
              <a:gd name="adj1" fmla="val 8333"/>
              <a:gd name="adj2" fmla="val 514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74BD1C-55C6-B214-C612-D07492BCCCD0}"/>
              </a:ext>
            </a:extLst>
          </p:cNvPr>
          <p:cNvCxnSpPr>
            <a:cxnSpLocks/>
          </p:cNvCxnSpPr>
          <p:nvPr/>
        </p:nvCxnSpPr>
        <p:spPr>
          <a:xfrm flipV="1">
            <a:off x="5824221" y="1518157"/>
            <a:ext cx="2630451" cy="1233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28460EA-1130-3970-4601-B96586973504}"/>
              </a:ext>
            </a:extLst>
          </p:cNvPr>
          <p:cNvSpPr txBox="1"/>
          <p:nvPr/>
        </p:nvSpPr>
        <p:spPr>
          <a:xfrm>
            <a:off x="8454673" y="721128"/>
            <a:ext cx="3523968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III. Sedimentary Formations</a:t>
            </a:r>
          </a:p>
          <a:p>
            <a:pPr>
              <a:buNone/>
            </a:pPr>
            <a:r>
              <a:rPr lang="en-NZ" sz="800" b="1" dirty="0"/>
              <a:t>a) Marine</a:t>
            </a:r>
            <a:endParaRPr lang="en-NZ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Red-</a:t>
            </a:r>
            <a:r>
              <a:rPr lang="en-NZ" sz="800" dirty="0" err="1"/>
              <a:t>colored</a:t>
            </a:r>
            <a:r>
              <a:rPr lang="en-NZ" sz="800" dirty="0"/>
              <a:t> and </a:t>
            </a:r>
            <a:r>
              <a:rPr lang="en-NZ" sz="800" dirty="0" err="1"/>
              <a:t>gray-colored</a:t>
            </a:r>
            <a:r>
              <a:rPr lang="en-NZ" sz="800" dirty="0"/>
              <a:t> terrigenous, deep-water deposits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Terrigenous-carbonate deposits of the transgression period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Carbonate-terrigenous deposits of incomplete transgressive-regressive cycles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 err="1"/>
              <a:t>Sulfur</a:t>
            </a:r>
            <a:r>
              <a:rPr lang="en-NZ" sz="800" dirty="0"/>
              <a:t>-rich terrigenous, carbonate-terrigenous deposits of the regression period</a:t>
            </a:r>
          </a:p>
          <a:p>
            <a:pPr>
              <a:buNone/>
            </a:pPr>
            <a:r>
              <a:rPr lang="en-NZ" sz="800" b="1" dirty="0"/>
              <a:t>b) Continental</a:t>
            </a:r>
            <a:endParaRPr lang="en-NZ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Nonmarine carbonate-terrigenous, lagoon-continental deposits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Red-</a:t>
            </a:r>
            <a:r>
              <a:rPr lang="en-NZ" sz="800" dirty="0" err="1"/>
              <a:t>colored</a:t>
            </a:r>
            <a:r>
              <a:rPr lang="en-NZ" sz="800" dirty="0"/>
              <a:t> deep-sea terrigenous deposits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Gray-green carbonate-argillaceous deposits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Red-</a:t>
            </a:r>
            <a:r>
              <a:rPr lang="en-NZ" sz="800" dirty="0" err="1"/>
              <a:t>colored</a:t>
            </a:r>
            <a:r>
              <a:rPr lang="en-NZ" sz="800" dirty="0"/>
              <a:t> carbonate-terrigenous deposits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FF6E525-85B6-BC11-A1B1-EE1F65C3E474}"/>
              </a:ext>
            </a:extLst>
          </p:cNvPr>
          <p:cNvCxnSpPr>
            <a:cxnSpLocks/>
          </p:cNvCxnSpPr>
          <p:nvPr/>
        </p:nvCxnSpPr>
        <p:spPr>
          <a:xfrm flipV="1">
            <a:off x="6182935" y="2300288"/>
            <a:ext cx="2376818" cy="1004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BF8561C-D6EF-B8C4-3027-625775BF7E3F}"/>
              </a:ext>
            </a:extLst>
          </p:cNvPr>
          <p:cNvSpPr txBox="1"/>
          <p:nvPr/>
        </p:nvSpPr>
        <p:spPr>
          <a:xfrm>
            <a:off x="8447526" y="2267830"/>
            <a:ext cx="1742213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c) Evaporite</a:t>
            </a:r>
            <a:endParaRPr lang="en-NZ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Copper Bearing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Argillaceous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Radiolarite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Polymetallic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174E32C2-EDA8-7478-BF70-33D8F00CEBD3}"/>
              </a:ext>
            </a:extLst>
          </p:cNvPr>
          <p:cNvSpPr/>
          <p:nvPr/>
        </p:nvSpPr>
        <p:spPr>
          <a:xfrm>
            <a:off x="5705471" y="3278267"/>
            <a:ext cx="118750" cy="270592"/>
          </a:xfrm>
          <a:prstGeom prst="leftBrace">
            <a:avLst>
              <a:gd name="adj1" fmla="val 8333"/>
              <a:gd name="adj2" fmla="val 514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6FC40C-EF55-F1AA-48C6-30DC98630ECC}"/>
              </a:ext>
            </a:extLst>
          </p:cNvPr>
          <p:cNvSpPr txBox="1"/>
          <p:nvPr/>
        </p:nvSpPr>
        <p:spPr>
          <a:xfrm>
            <a:off x="8217648" y="4766542"/>
            <a:ext cx="214584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800" b="1" dirty="0"/>
              <a:t>Deep Fault Zones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Zones of deep-seated faults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Boundaries of regional uplifts</a:t>
            </a:r>
          </a:p>
          <a:p>
            <a:pPr>
              <a:buNone/>
            </a:pPr>
            <a:r>
              <a:rPr lang="en-NZ" sz="800" b="1" dirty="0"/>
              <a:t>Other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Uplifts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Disruptions of constructional significance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800" dirty="0"/>
              <a:t>Fractures of various types based on geophysical data</a:t>
            </a:r>
          </a:p>
          <a:p>
            <a:r>
              <a:rPr lang="en-NZ" sz="800" b="1" dirty="0"/>
              <a:t>Note:</a:t>
            </a:r>
            <a:r>
              <a:rPr lang="en-NZ" sz="800" dirty="0"/>
              <a:t> Does not differentiate between biohermal and non-biohermal reef formations.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FB973352-775C-FCCD-DB81-6F5BD52E32DD}"/>
              </a:ext>
            </a:extLst>
          </p:cNvPr>
          <p:cNvSpPr/>
          <p:nvPr/>
        </p:nvSpPr>
        <p:spPr>
          <a:xfrm>
            <a:off x="5686204" y="4062054"/>
            <a:ext cx="118750" cy="375174"/>
          </a:xfrm>
          <a:prstGeom prst="leftBrace">
            <a:avLst>
              <a:gd name="adj1" fmla="val 8333"/>
              <a:gd name="adj2" fmla="val 514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36CFB75-2D50-3110-492D-065342CE4EBF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609912" y="4437228"/>
            <a:ext cx="1607736" cy="99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97920-34B3-9143-0C21-4CAD39B42061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6767544" y="3658741"/>
            <a:ext cx="1524285" cy="111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Left Brace 55">
            <a:extLst>
              <a:ext uri="{FF2B5EF4-FFF2-40B4-BE49-F238E27FC236}">
                <a16:creationId xmlns:a16="http://schemas.microsoft.com/office/drawing/2014/main" id="{CA638AA8-1745-BAD4-5849-3E1ADB66D7BB}"/>
              </a:ext>
            </a:extLst>
          </p:cNvPr>
          <p:cNvSpPr/>
          <p:nvPr/>
        </p:nvSpPr>
        <p:spPr>
          <a:xfrm>
            <a:off x="5705471" y="3568518"/>
            <a:ext cx="99483" cy="442051"/>
          </a:xfrm>
          <a:prstGeom prst="leftBrace">
            <a:avLst>
              <a:gd name="adj1" fmla="val 8333"/>
              <a:gd name="adj2" fmla="val 514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2215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Wright</dc:creator>
  <cp:lastModifiedBy>Trevor Wright</cp:lastModifiedBy>
  <cp:revision>1</cp:revision>
  <dcterms:created xsi:type="dcterms:W3CDTF">2025-03-28T04:37:53Z</dcterms:created>
  <dcterms:modified xsi:type="dcterms:W3CDTF">2025-03-28T04:38:26Z</dcterms:modified>
</cp:coreProperties>
</file>